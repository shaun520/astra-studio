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7" r:id="rId19"/>
    <p:sldId id="268" r:id="rId20"/>
    <p:sldId id="269" r:id="rId21"/>
    <p:sldId id="264" r:id="rId13"/>
    <p:sldId id="265" r:id="rId14"/>
    <p:sldId id="266" r:id="rId15"/>
    <p:sldId id="270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各位老师/同学好，我汇报的项目叫 Astra Studio，是一个面向创作者的多模态 AI 工作台。整个项目从前端界面到后端 AI 网关都是我独立设计并实现的，采用 Vue 3 加 Spring Boot 加 LangChain4j 的技术栈。接下来我会从背景、架构、核心功能和工程实践几个方面展开。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今天的汇报分五个部分：先讲项目背景和定位，再看整体架构，然后重点展开三个核心功能——流式对话、会话持久化和知识库 RAG，接着分享工程实践中的技术亮点，最后做总结和未来规划。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项目的出发点很简单：创作者现在要用聊天工具、画图工具、知识库工具好几个产品来回切，而且数据都在第三方手里。Astra Studio 想把这些能力收进一个界面，后端对接多个主流大模型，数据存在自己的 PostgreSQL 里，可以私有化部署。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我们聚焦三类用户：内容创作者主要用流式对话和联网搜索写稿；设计师用图像生成和预览能力管理素材；开发者则用到内置的代码执行、数据处理和 PDF 生成工具。这三类场景覆盖了工作台的主要功能面。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整体是五层架构：最上层是 Vue 3 单页应用，经 Nginx 反向代理到 Spring Boot 后端。后端按 Controller、Service、工具/MCP 分层组织，向下对接多模型和 PostgreSQL 加 pgvector、Redis。最关键的对话链路走 SSE 流式输出，Nginx 必须关闭缓冲才能让字逐字到达前端。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对话是系统的核心链路。用户发消息后，后端先过 SafeInputGuardrail 内容护栏，然后交给 LangChain4j 调模型，用 SseEmitter 加 CompletableFuture 异步把生成的 token 一段段推回前端。同时我们做了自动路由：IntentClassifier 先判断用户意图，再由 ModelRouter 选最合适的模型，用户不用自己纠结选 DeepSeek 还是 GLM。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会话管理是第二个重点。我们用 Redis 加 PostgreSQL 双层：热点会话列表放 Redis，5 分钟过期，写操作主动失效，未命中再回源 PG。用户第一次发消息就自动建会话，标题由 LLM 生成、失败有规则降级。删除走软删除，30 天后定时任务物理清理，避免误删不可恢复。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知识库 RAG 分两条链路。离线侧：用户上传 PDF、Word、TXT，用 Apache Tika 解析，TextChunker 分块后做多模态 Embedding，写入 PostgreSQL 的 pgvector 扩展。在线侧：对话时打开知识库开关，先做向量相似度检索，把最相关的 Top-K 片段塞进 Prompt 上下文，再让 LLM 基于私有资料作答，减少幻觉。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工程化方面我重点做了四件事：一是可观测性，慢查询超过 100ms 自动记录，指标兼容 Prometheus；二是数据库变更全部走 Flyway 版本脚本，从 V1 到 V10 包括 pgvector 扩展和 Embedding 维度调整都可复现、可回滚；三是工具调用用 ToolRegistry 自动发现，新增工具只要加注解；四是输入安全护栏和全局异常处理，API Key 全部走环境变量不入库。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这是一个个人独立项目，我从需求文档开始，前端用 Vue 3 写了对话、会话、工作室面板和图片预览等全部组件；后端用 Spring Boot 加 LangChain4j 实现了流式对话、自动路由、会话双层存储、知识库 RAG 和工具体系；数据库用 Flyway 管理了十版迁移；最后还输出了部署清单和代码评审报告。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总结一下：Astra Studio v1.0 已经跑通了从前端到后端、从对话到知识库再到工具调用的完整链路，可以私有化部署。短期计划把视频生成从 Beta 转正、补对话导出和测试；中期走向多用户、开放 API 和工作流编排。这个项目让我完整经历了一次全栈交付，也在 LangChain4j、RAG 工程化和可观测性上积累了实战经验。我的汇报到这里，欢迎提问。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1430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90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PERSONAL PROJECT REPORT · 2026.09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1016053" y="1708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799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Astra Studio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94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D8DDE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 AI 创作工作台 —— 全栈个人项目汇报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558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375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584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汇报人：项目负责人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0" y="584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年 9 月 · 版本 v1.1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1176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413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905000" y="23876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项目背景与定位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27686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为什么做、解决什么问题、目标用户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1016008" y="329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556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35306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系统总体架构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905000" y="39116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前后端分层、数据流与中间件选型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046">
            <a:off x="1016008" y="4438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4699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05000" y="46736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核心功能实现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05000" y="50546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流式对话、会话持久化、RAG 与界面实拍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2413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493000" y="23876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工程实践与亮点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493000" y="27686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缓存策略、监控、Flyway 迁移、工具调用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046">
            <a:off x="6604008" y="329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604000" y="3556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93000" y="35306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总结与未来规划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493000" y="39116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个人收获、成果与后续路线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046">
            <a:off x="6604008" y="4438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TextBox 22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· 项目背景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把分散的 AI 能力整合进一个可私有化部署的工作台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227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667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0226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42000"/>
              </a:lnSpc>
              <a:buClr>
                <a:srgbClr val="475569"/>
              </a:buClr>
              <a:buChar char="•"/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对话、画图、知识库分散在多个产品中，创作者反复切换</a:t>
            </a:r>
            <a:endParaRPr lang="en-US" sz="1100"/>
          </a:p>
          <a:p>
            <a:pPr marL="190500" indent="-190500" algn="l">
              <a:lnSpc>
                <a:spcPct val="142000"/>
              </a:lnSpc>
              <a:buClr>
                <a:srgbClr val="475569"/>
              </a:buClr>
              <a:buChar char="•"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会话历史依赖第三方 SaaS，数据不可控、无法私有化</a:t>
            </a:r>
            <a:endParaRPr lang="en-US" sz="15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42000"/>
              </a:lnSpc>
              <a:buClr>
                <a:srgbClr val="475569"/>
              </a:buClr>
              <a:buChar char="•"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不同模型能力各异，用户不知道该选哪个模型</a:t>
            </a:r>
            <a:endParaRPr lang="en-US" sz="15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4373">
            <a:off x="4699000" y="4057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604000" y="2667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30226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42000"/>
              </a:lnSpc>
              <a:buClr>
                <a:srgbClr val="475569"/>
              </a:buClr>
              <a:buChar char="•"/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一个界面集成对话、图像/视频生成、知识库问答、文件处理</a:t>
            </a:r>
            <a:endParaRPr lang="en-US" sz="1100"/>
          </a:p>
          <a:p>
            <a:pPr marL="190500" indent="-190500" algn="l">
              <a:lnSpc>
                <a:spcPct val="142000"/>
              </a:lnSpc>
              <a:buClr>
                <a:srgbClr val="475569"/>
              </a:buClr>
              <a:buChar char="•"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DeepSeek / GLM / Qwen 多模型，自动路由选优</a:t>
            </a:r>
            <a:endParaRPr lang="en-US" sz="15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42000"/>
              </a:lnSpc>
              <a:buClr>
                <a:srgbClr val="475569"/>
              </a:buClr>
              <a:buChar char="•"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会话与知识库数据沉淀在自有 PostgreSQL，可私有部署</a:t>
            </a:r>
            <a:endParaRPr lang="en-US" sz="15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定位：面向创作者、设计师与开发者的专业级多模态 AI 创作工作台</a:t>
            </a:r>
            <a:endParaRPr lang="en-US" sz="1100"/>
          </a:p>
        </p:txBody>
      </p:sp>
      <p:sp>
        <p:nvSpPr>
          <p:cNvPr id="11" name="TextBox 10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· 目标用户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三类核心用户，对应三种高频创作场景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2159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3302000"/>
                <a:gridCol w="4572000"/>
              </a:tblGrid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用户角色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典型场景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用到的能力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1003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内容创作者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自媒体撰稿、播客脚本、长文润色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流式对话、深度思考、联网搜索、知识库问答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03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视觉设计师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生成配图、参考图管理、产物归档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图像生成、图片预览 Lightbox、工作室产物网格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</a:tr>
              <a:tr h="990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开发者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写代码、跑数据、导出技术文档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代码执行工具、数据处理、PDF 生成、MCP 扩展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· 系统架构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9906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前后端分离五层架构，SSE 贯穿实时对话链路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7620000" cy="660400"/>
          </a:xfrm>
          <a:prstGeom prst="roundRect">
            <a:avLst>
              <a:gd name="adj" fmla="val 1153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19200" y="1879600"/>
            <a:ext cx="723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浏览器 SPA</a:t>
            </a:r>
            <a:r>
              <a:rPr lang="en-US" sz="13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Vue 3.5 + TypeScript + Vite 8 + TailwindCSS 4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对话界面 · 工作室面板 · 知识库面板 · 图像/视频生成</a:t>
            </a:r>
            <a:endParaRPr lang="en-US" sz="1300" b="0" i="0" u="none" strike="noStrike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2641600"/>
            <a:ext cx="7620000" cy="558800"/>
          </a:xfrm>
          <a:prstGeom prst="roundRect">
            <a:avLst>
              <a:gd name="adj" fmla="val 13636"/>
            </a:avLst>
          </a:prstGeom>
          <a:solidFill>
            <a:srgbClr val="EEF2F7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19200" y="2743200"/>
            <a:ext cx="723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Nginx</a:t>
            </a:r>
            <a:r>
              <a:rPr lang="en-US" sz="13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静态托管 + /api 反向代理 + SSE 关闭缓冲（proxy_read_timeout 300s）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403600"/>
            <a:ext cx="7620000" cy="1143000"/>
          </a:xfrm>
          <a:prstGeom prst="roundRect">
            <a:avLst>
              <a:gd name="adj" fmla="val 6666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19200" y="3505200"/>
            <a:ext cx="723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 3.5 · JDK 21 · LangChain4j 1.3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19200" y="3835400"/>
            <a:ext cx="228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Controller 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 / Conversation</a:t>
            </a:r>
            <a:endParaRPr lang="en-US" sz="1100" b="0" i="0" u="none" strike="noStrike">
              <a:solidFill>
                <a:srgbClr val="C8D2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Knowledge / Tool / OSS</a:t>
            </a:r>
            <a:endParaRPr lang="en-US" sz="1100" b="0" i="0" u="none" strike="noStrike">
              <a:solidFill>
                <a:srgbClr val="C8D2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683000" y="3835400"/>
            <a:ext cx="228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Service 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自动路由 / 标题生成</a:t>
            </a:r>
            <a:endParaRPr lang="en-US" sz="1100" b="0" i="0" u="none" strike="noStrike">
              <a:solidFill>
                <a:srgbClr val="C8D2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 检索 / 缓存持久化</a:t>
            </a:r>
            <a:endParaRPr lang="en-US" sz="1100" b="0" i="0" u="none" strike="noStrike">
              <a:solidFill>
                <a:srgbClr val="C8D2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146800" y="3835400"/>
            <a:ext cx="228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工具与 MCP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代码执行 / PDF 生成</a:t>
            </a:r>
            <a:endParaRPr lang="en-US" sz="1100" b="0" i="0" u="none" strike="noStrike">
              <a:solidFill>
                <a:srgbClr val="C8D2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网页抓取 / 图像分析</a:t>
            </a:r>
            <a:endParaRPr lang="en-US" sz="1100" b="0" i="0" u="none" strike="noStrike">
              <a:solidFill>
                <a:srgbClr val="C8D2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16000" y="4749800"/>
            <a:ext cx="3683000" cy="635000"/>
          </a:xfrm>
          <a:prstGeom prst="roundRect">
            <a:avLst>
              <a:gd name="adj" fmla="val 1200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219200" y="4851400"/>
            <a:ext cx="330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DeepSeek · GLM-5 · Qwen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多模型路由 / Embedding 向量化</a:t>
            </a:r>
            <a:endParaRPr lang="en-US" sz="12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953000" y="4749800"/>
            <a:ext cx="3683000" cy="635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156200" y="4851400"/>
            <a:ext cx="330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</a:t>
            </a:r>
            <a:r>
              <a:rPr lang="en-US" sz="12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PostgreSQL + pgvector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Redis 缓存 · OSS 文件存储</a:t>
            </a:r>
            <a:endParaRPr lang="en-US" sz="1200" b="0" i="0" u="none" strike="noStrike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017000" y="1778000"/>
            <a:ext cx="2286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关键链路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 /api/chat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SSE 流式返回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逐字渲染到前端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会话列表走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Redis Cache-Aside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未命中回源 PG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核心功能 ① 流式对话与自动路由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SSE 流式输出 + 意图分类自动选模型，用户无需手选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流式对话链路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489200"/>
            <a:ext cx="1397000" cy="558800"/>
          </a:xfrm>
          <a:prstGeom prst="roundRect">
            <a:avLst>
              <a:gd name="adj" fmla="val 136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590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 /api/chat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32155">
            <a:off x="2413122" y="27622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8" name="AutoShape 8"/>
          <p:cNvSpPr/>
          <p:nvPr/>
        </p:nvSpPr>
        <p:spPr>
          <a:xfrm>
            <a:off x="2743200" y="2489200"/>
            <a:ext cx="1397000" cy="558800"/>
          </a:xfrm>
          <a:prstGeom prst="roundRect">
            <a:avLst>
              <a:gd name="adj" fmla="val 136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743200" y="2590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护栏校验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32155">
            <a:off x="4140322" y="27622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1" name="AutoShape 11"/>
          <p:cNvSpPr/>
          <p:nvPr/>
        </p:nvSpPr>
        <p:spPr>
          <a:xfrm>
            <a:off x="4470400" y="2489200"/>
            <a:ext cx="1397000" cy="558800"/>
          </a:xfrm>
          <a:prstGeom prst="roundRect">
            <a:avLst>
              <a:gd name="adj" fmla="val 13636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70400" y="2590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流式生成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2155">
            <a:off x="5867522" y="27622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4" name="AutoShape 14"/>
          <p:cNvSpPr/>
          <p:nvPr/>
        </p:nvSpPr>
        <p:spPr>
          <a:xfrm>
            <a:off x="6197600" y="2489200"/>
            <a:ext cx="1397000" cy="558800"/>
          </a:xfrm>
          <a:prstGeom prst="roundRect">
            <a:avLst>
              <a:gd name="adj" fmla="val 136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197600" y="2590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SSE 推到前端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3378200"/>
            <a:ext cx="685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2000"/>
              </a:lnSpc>
              <a:buClr>
                <a:srgbClr val="475569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SseEmitter + CompletableFuture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异步流式，不阻塞请求线程</a:t>
            </a:r>
            <a:endParaRPr lang="en-US" sz="1100"/>
          </a:p>
          <a:p>
            <a:pPr marL="165100" indent="-165100" algn="l">
              <a:lnSpc>
                <a:spcPct val="142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事件分四类：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text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（正文）、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thinking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（思考链）、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complete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error</a:t>
            </a:r>
            <a:endParaRPr lang="en-US" sz="1300" b="1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42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前端逐字渲染，Markdown + highlight.js 代码高亮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387722">
            <a:off x="6604000" y="3803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763000" y="203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自动路由决策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763000" y="2489200"/>
            <a:ext cx="254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意图分类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IntentClassifier 判断任务类型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 / 代码 / 推理 / 知识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模型选择</a:t>
            </a:r>
            <a:endParaRPr lang="en-US" sz="1200" b="1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ModelRouter 按分类选最优模型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默认 deepseek-v4-flash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决策留痕</a:t>
            </a:r>
            <a:endParaRPr lang="en-US" sz="1200" b="1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RoutingStats 记录路由统计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核心功能 ② 会话持久化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Redis 缓存热点列表 + PostgreSQL 持久化，自动建会话与标题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064000" cy="1016000"/>
          </a:xfrm>
          <a:prstGeom prst="roundRect">
            <a:avLst>
              <a:gd name="adj" fmla="val 7500"/>
            </a:avLst>
          </a:prstGeom>
          <a:solidFill>
            <a:srgbClr val="2563EB">
              <a:alpha val="1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19200" y="2159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Redis 缓存层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会话列表 Cache-Aside · TTL 5 分钟</a:t>
            </a:r>
            <a:endParaRPr lang="en-US" sz="1300" b="0" i="0" u="none" strike="noStrike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写操作主动失效 · Kryo 序列化快照</a:t>
            </a:r>
            <a:endParaRPr lang="en-US" sz="1300" b="0" i="0" u="none" strike="noStrike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3302000"/>
            <a:ext cx="4064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19200" y="3429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PostgreSQL 持久层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conversations / conversation_messages</a:t>
            </a:r>
            <a:endParaRPr lang="en-US" sz="1300" b="0" i="0" u="none" strike="noStrike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Flyway V1-V10 版本化迁移</a:t>
            </a:r>
            <a:endParaRPr lang="en-US" sz="1300" b="0" i="0" u="none" strike="noStrike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228255">
            <a:off x="2921000" y="3168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9" name="Connector 9"/>
          <p:cNvCxnSpPr/>
          <p:nvPr/>
        </p:nvCxnSpPr>
        <p:spPr>
          <a:xfrm rot="5386777">
            <a:off x="3937000" y="3676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969000" y="2032000"/>
            <a:ext cx="5207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首次发言自动建会话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，无需用户手动新建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自动生成标题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（最长 30 字），失败降级为「新对话」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软删除 + 定时回收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：status=-1，30 天后由 ConversationCleanupTask 物理删除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索引优化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：(status, updated_at DESC) 加速列表；(conversation_id, sequence_num) 加速消息分页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826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消息计数、最后一条预览（前 100 字）随对话实时更新</a:t>
            </a:r>
            <a:endParaRPr lang="en-US" sz="1100"/>
          </a:p>
        </p:txBody>
      </p:sp>
      <p:sp>
        <p:nvSpPr>
          <p:cNvPr id="12" name="TextBox 11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核心功能 ③ 知识库 RAG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 ETL + pgvector 语义检索，让 AI 回答基于自有资料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981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离线：文档入库 Pipeline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362200"/>
            <a:ext cx="1524000" cy="635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463800"/>
            <a:ext cx="152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上传多格式文档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32155">
            <a:off x="2540122" y="26733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8" name="AutoShape 8"/>
          <p:cNvSpPr/>
          <p:nvPr/>
        </p:nvSpPr>
        <p:spPr>
          <a:xfrm>
            <a:off x="2870200" y="2362200"/>
            <a:ext cx="1524000" cy="635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870200" y="2463800"/>
            <a:ext cx="152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Tika 文档解析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32155">
            <a:off x="4394322" y="26733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1" name="AutoShape 11"/>
          <p:cNvSpPr/>
          <p:nvPr/>
        </p:nvSpPr>
        <p:spPr>
          <a:xfrm>
            <a:off x="4724400" y="2362200"/>
            <a:ext cx="1524000" cy="635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724400" y="2463800"/>
            <a:ext cx="152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TextChunker 分块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2155">
            <a:off x="6248522" y="26733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4" name="AutoShape 14"/>
          <p:cNvSpPr/>
          <p:nvPr/>
        </p:nvSpPr>
        <p:spPr>
          <a:xfrm>
            <a:off x="6578600" y="2362200"/>
            <a:ext cx="1778000" cy="635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78600" y="2463800"/>
            <a:ext cx="177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Embedding 向量化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32155">
            <a:off x="8356722" y="26733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7" name="AutoShape 17"/>
          <p:cNvSpPr/>
          <p:nvPr/>
        </p:nvSpPr>
        <p:spPr>
          <a:xfrm>
            <a:off x="8686800" y="2362200"/>
            <a:ext cx="1524000" cy="635000"/>
          </a:xfrm>
          <a:prstGeom prst="roundRect">
            <a:avLst>
              <a:gd name="adj" fmla="val 1200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686800" y="2463800"/>
            <a:ext cx="152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写入 pgvector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3505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在线：对话时检索增强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38862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39878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用户提问开启知识库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32155">
            <a:off x="3175122" y="41973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3" name="AutoShape 23"/>
          <p:cNvSpPr/>
          <p:nvPr/>
        </p:nvSpPr>
        <p:spPr>
          <a:xfrm>
            <a:off x="3505200" y="38862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3505200" y="39878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向量相似度检索 Top-K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32155">
            <a:off x="5664322" y="41973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6" name="AutoShape 26"/>
          <p:cNvSpPr/>
          <p:nvPr/>
        </p:nvSpPr>
        <p:spPr>
          <a:xfrm>
            <a:off x="5994400" y="38862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994400" y="39878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片段注入 Prompt 上下文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32155">
            <a:off x="8153522" y="41973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9" name="AutoShape 29"/>
          <p:cNvSpPr/>
          <p:nvPr/>
        </p:nvSpPr>
        <p:spPr>
          <a:xfrm>
            <a:off x="8483600" y="3886200"/>
            <a:ext cx="1727200" cy="635000"/>
          </a:xfrm>
          <a:prstGeom prst="roundRect">
            <a:avLst>
              <a:gd name="adj" fmla="val 1200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483600" y="3987800"/>
            <a:ext cx="1727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基于资料作答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016000" y="50292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技术要点：Apache Tika 统一解析多格式文档；Hibernate Vector 直接在 JPA 层操作 pgvector；Embedding 维度经 V6/V10 迁移迭代到 1024；文档变更时增量重建索引。</a:t>
            </a:r>
            <a:endParaRPr lang="en-US" sz="1100"/>
          </a:p>
        </p:txBody>
      </p:sp>
      <p:sp>
        <p:nvSpPr>
          <p:cNvPr id="32" name="TextBox 31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· 工程实践与技术亮点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围绕可观测、可迁移、可扩展做工程化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2032000"/>
          <a:ext cx="101600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3810000"/>
                <a:gridCol w="4064000"/>
              </a:tblGrid>
              <a:tr h="520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做法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解决的问题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可观测性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PerformanceMonitor 自动记录 &gt;100ms 慢查询；MetricsCollector 暴露 Counter/Histogram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上线后能定位慢查询与热点接口，不靠猜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数据迁移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Flyway 版本化脚本 V1–V10，含 pgvector 扩展、Embedding 维度调整、元数据字段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禁止手工改表，环境间 schema 可复现、可回滚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工具扩展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ToolRegistry 自动发现注册；内置代码执行、数据处理、PDF 生成、网页抓取、图像分析；支持 MCP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新工具加注解即可被 LLM 调用，不改动主流程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76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安全与异常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SafeInputGuardrail 过滤输入；GlobalExceptionHandler 统一错误结构；API Key 走环境变量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违规输入前置拦截，凭证不入库，错误响应一致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· 个人职责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独立完成从需求到部署的全栈交付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 · Vue 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489200"/>
            <a:ext cx="4826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475569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对话界面：ChatMessage、Composer、AttachCard、SSE 逐字渲染</a:t>
            </a:r>
            <a:endParaRPr lang="en-US" sz="1100"/>
          </a:p>
          <a:p>
            <a:pPr marL="165100" indent="-165100" algn="l">
              <a:lnSpc>
                <a:spcPct val="150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会话管理：列表、搜索、行内改名、删除确认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工作室/设置面板：参数滑块、主题切换、产物网格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图片预览 Lightbox：缩放、拖拽、键盘导航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Services 层封装 API，composables 抽离通用逻辑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5387722">
            <a:off x="4445000" y="3803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20320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 · Spring Boot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2489200"/>
            <a:ext cx="4572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475569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SSE 流式对话、多模型接入与 Auto-Routing</a:t>
            </a:r>
            <a:endParaRPr lang="en-US" sz="1100"/>
          </a:p>
          <a:p>
            <a:pPr marL="165100" indent="-165100" algn="l">
              <a:lnSpc>
                <a:spcPct val="150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会话持久化：PG + Redis 双层、自动标题、软删除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 RAG：Tika 解析、分块、pgvector 检索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工具体系：代码执行/PDF/抓取/图像分析/MCP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监控：慢查询检测、指标收集、定时清理任务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-4297">
            <a:off x="1016004" y="570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D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59182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配套产出：需求说明书（docs/需求说明书.md）、部署清单（DEPLOYMENT.md）、代码评审报告（CODE_REVIEW.md）、Flyway 迁移脚本 V1–V10</a:t>
            </a:r>
            <a:endParaRPr lang="en-US" sz="1100"/>
          </a:p>
        </p:txBody>
      </p:sp>
      <p:sp>
        <p:nvSpPr>
          <p:cNvPr id="11" name="TextBox 10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90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· 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143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一个可私有部署的多模态 AI 工作台已经跑通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1016053" y="21018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540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v1.0 已交付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9718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SSE 流式对话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多模型自动路由</a:t>
            </a:r>
            <a:endParaRPr lang="en-US" sz="1200" b="0" i="0" u="none" strike="noStrike">
              <a:solidFill>
                <a:srgbClr val="B4C2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会话双层持久化</a:t>
            </a:r>
            <a:endParaRPr lang="en-US" sz="1200" b="0" i="0" u="none" strike="noStrike">
              <a:solidFill>
                <a:srgbClr val="B4C2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 RAG 检索</a:t>
            </a:r>
            <a:endParaRPr lang="en-US" sz="1200" b="0" i="0" u="none" strike="noStrike">
              <a:solidFill>
                <a:srgbClr val="B4C2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五类内置工具</a:t>
            </a:r>
            <a:endParaRPr lang="en-US" sz="1200" b="0" i="0" u="none" strike="noStrike">
              <a:solidFill>
                <a:srgbClr val="B4C2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监控与部署清单</a:t>
            </a:r>
            <a:endParaRPr lang="en-US" sz="1200" b="0" i="0" u="none" strike="noStrike">
              <a:solidFill>
                <a:srgbClr val="B4C2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0" y="2540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v1.1 短期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0" y="29718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视频生成脱离 BETA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接入更多模型选项</a:t>
            </a:r>
            <a:endParaRPr lang="en-US" sz="1200" b="0" i="0" u="none" strike="noStrike">
              <a:solidFill>
                <a:srgbClr val="B4C2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对话导出为 PDF/Markdown</a:t>
            </a:r>
            <a:endParaRPr lang="en-US" sz="1200" b="0" i="0" u="none" strike="noStrike">
              <a:solidFill>
                <a:srgbClr val="B4C2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前端渲染接入 DOMPurify</a:t>
            </a:r>
            <a:endParaRPr lang="en-US" sz="1200" b="0" i="0" u="none" strike="noStrike">
              <a:solidFill>
                <a:srgbClr val="B4C2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补充单元测试覆盖</a:t>
            </a:r>
            <a:endParaRPr lang="en-US" sz="1200" b="0" i="0" u="none" strike="noStrike">
              <a:solidFill>
                <a:srgbClr val="B4C2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128000" y="2540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v2.0 中期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0" y="29718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团队协作与多用户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开放 API 与鉴权</a:t>
            </a:r>
            <a:endParaRPr lang="en-US" sz="1200" b="0" i="0" u="none" strike="noStrike">
              <a:solidFill>
                <a:srgbClr val="B4C2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自定义工作流编排</a:t>
            </a:r>
            <a:endParaRPr lang="en-US" sz="1200" b="0" i="0" u="none" strike="noStrike">
              <a:solidFill>
                <a:srgbClr val="B4C2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插件化扩展机制</a:t>
            </a:r>
            <a:endParaRPr lang="en-US" sz="1200" b="0" i="0" u="none" strike="noStrike">
              <a:solidFill>
                <a:srgbClr val="B4C2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B4C2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本地模型部署支持</a:t>
            </a:r>
            <a:endParaRPr lang="en-US" sz="1200" b="0" i="0" u="none" strike="noStrike">
              <a:solidFill>
                <a:srgbClr val="B4C2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558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375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584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90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技术收获：全栈独立交付能力 · LangChain4j 实战 · RAG 工程化 · 性能监控与可观测性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20000"/>
            <a:ext cx="56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03 · 界面实拍 ① 对话工作台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940000"/>
            <a:ext cx="1016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三栏同屏：会话侧栏 · 流式渲染主区 · 工作室面板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1400000"/>
            <a:ext cx="1016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左侧会话与创作工具导航，中部思维链与代码高亮同屏输出，右侧参数与产物实时统计</a:t>
            </a:r>
          </a:p>
        </p:txBody>
      </p:sp>
      <p:pic>
        <p:nvPicPr>
          <p:cNvPr id="5" name="Picture 4" descr="04-tools-exp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667" y="1760000"/>
            <a:ext cx="8426666" cy="47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20000"/>
            <a:ext cx="56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03 · 界面实拍 ② 图像与视频生成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940000"/>
            <a:ext cx="1016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文生图与文生视频共用一套工作台，产物统一沉淀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1400000"/>
            <a:ext cx="1016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同一界面内完成风格选择、参数调节与批量生成，产物自动归档到右侧工作室面板</a:t>
            </a:r>
          </a:p>
        </p:txBody>
      </p:sp>
      <p:pic>
        <p:nvPicPr>
          <p:cNvPr id="5" name="Picture 4" descr="05-image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740000"/>
            <a:ext cx="4930000" cy="2773125"/>
          </a:xfrm>
          <a:prstGeom prst="rect">
            <a:avLst/>
          </a:prstGeom>
        </p:spPr>
      </p:pic>
      <p:pic>
        <p:nvPicPr>
          <p:cNvPr id="6" name="Picture 5" descr="06-video-gen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000" y="1740000"/>
            <a:ext cx="4930000" cy="2773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6000" y="4573125"/>
            <a:ext cx="493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图像生成 · 风格预设与实时示例图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6000" y="4573125"/>
            <a:ext cx="493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视频生成 · 多场景时间线与画布预览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000" y="4913125"/>
            <a:ext cx="493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6000" y="4913125"/>
            <a:ext cx="493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6000" y="5113125"/>
            <a:ext cx="4490000" cy="10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图像生成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· 8 种风格预设，一键切换视觉调性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· 5 种画面比例、负向提示词与高级设置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· 随机灵感快速填充，支持批量出图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6000" y="5113125"/>
            <a:ext cx="4490000" cy="10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视频生成 BETA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· 场景时间线：逐镜头编排画面描述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· 单场景 2–10s，帧率 24 / 30 / 60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· 5 种运镜风格，一键生成全部视频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20000"/>
            <a:ext cx="56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03 · 界面实拍 ③ 知识库与 RAG 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940000"/>
            <a:ext cx="1016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上传即入库：解析 → 分块 → 向量化 → READY 可检索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1400000"/>
            <a:ext cx="1016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文档状态实时可见，READY 表示已完成解析与索引，可在对话中开启知识库并回溯来源</a:t>
            </a:r>
          </a:p>
        </p:txBody>
      </p:sp>
      <p:pic>
        <p:nvPicPr>
          <p:cNvPr id="5" name="Picture 4" descr="08-knowledge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889" y="1740000"/>
            <a:ext cx="7822222" cy="44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16000" y="6230000"/>
            <a:ext cx="38000" cy="42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6000" y="6250000"/>
            <a:ext cx="3036666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文档入库 · 状态可见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上传即解析，READY 表示索引已建立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2666" y="6230000"/>
            <a:ext cx="38000" cy="42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2666" y="6250000"/>
            <a:ext cx="3036666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向量检索 · 1024 维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Embedding 统一维度 + pgvector Top-K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89332" y="6230000"/>
            <a:ext cx="38000" cy="42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9332" y="6250000"/>
            <a:ext cx="3036666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对话增强 · 来源可溯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开启知识库开关，命中片段注入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143000"/>
            <a:ext cx="762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890B4"/>
                </a:solidFill>
                <a:latin typeface="Noto Sans SC"/>
                <a:ea typeface="Noto Sans SC"/>
                <a:cs typeface="Noto Sans SC"/>
              </a:rPr>
              <a:t>Q &amp; A · 2026.09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53" y="1708150"/>
            <a:ext cx="762000" cy="12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159000"/>
            <a:ext cx="10160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3302000"/>
            <a:ext cx="10160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8DDE3"/>
                </a:solidFill>
                <a:latin typeface="Noto Sans SC"/>
                <a:ea typeface="Noto Sans SC"/>
                <a:cs typeface="Noto Sans SC"/>
              </a:rPr>
              <a:t>Astra Studio —— 多模态 AI 创作工作台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191000"/>
            <a:ext cx="965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全栈独立交付：Vue 3 + Spring Boot 3 + LangChain4j · 欢迎交流与指正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4" y="5581650"/>
            <a:ext cx="10160000" cy="12700"/>
          </a:xfrm>
          <a:prstGeom prst="rect">
            <a:avLst/>
          </a:prstGeom>
          <a:solidFill>
            <a:srgbClr val="2D3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5842000"/>
            <a:ext cx="508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汇报人：项目负责人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0" y="58420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2026 年 9 月 · 版本 v1.1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76000" y="62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3291</Words>
  <Application>WPS 演示</Application>
  <PresentationFormat/>
  <Paragraphs>299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杨权</cp:lastModifiedBy>
  <cp:revision>1</cp:revision>
  <dcterms:created xsi:type="dcterms:W3CDTF">2026-09-24T14:48:26Z</dcterms:created>
  <dcterms:modified xsi:type="dcterms:W3CDTF">2026-09-24T14:48:26Z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6EB68C85EC654213A7CA356D326DC199_12</vt:lpwstr>
  </property>
  <property fmtid="{D5CDD505-2E9C-101B-9397-08002B2CF9AE}" pid="3" name="KSOProductBuildVer">
    <vt:lpwstr>2052-12.1.0.28505</vt:lpwstr>
  </property>
</Properties>
</file>